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5855f4d6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5855f4d6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855f4d6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5855f4d6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855f4d6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855f4d6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5855f4d6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5855f4d6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855f4d6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855f4d6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855f4d6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5855f4d6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855f4d6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855f4d6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5855f4d6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5855f4d6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5855f4d6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5855f4d6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5855f4d6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5855f4d6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855f4d6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5855f4d6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5855f4d6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5855f4d6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855f4d6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5855f4d6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 Estadístico de la Hidratación y Salud Universitaria.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Estudio de significancia sobre el consumo de agua y su impacto en el estrés estudiantil.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519825" y="4060525"/>
            <a:ext cx="646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Reinaldo Elgueta Ábalos.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-831046" y="101073"/>
            <a:ext cx="638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Proyecto Módulo 5 Curso Ciencia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s-419"/>
              <a:t>Estudio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51720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>
                <a:latin typeface="Economica"/>
                <a:ea typeface="Economica"/>
                <a:cs typeface="Economica"/>
                <a:sym typeface="Economica"/>
              </a:rPr>
              <a:t>Unidad solicitante: Salud Universitaria.</a:t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t/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4200">
                <a:latin typeface="Economica"/>
                <a:ea typeface="Economica"/>
                <a:cs typeface="Economica"/>
                <a:sym typeface="Economica"/>
              </a:rPr>
              <a:t>Objetivo: Generar políticas de bienestar basadas en evidencia científica.</a:t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t/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s-419" sz="4200">
                <a:latin typeface="Economica"/>
                <a:ea typeface="Economica"/>
                <a:cs typeface="Economica"/>
                <a:sym typeface="Economica"/>
              </a:rPr>
              <a:t>Fundamento: La deshidratación leve eleva el cortisol y afecta el sueño (Liska et al., 2019).</a:t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2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275" y="652475"/>
            <a:ext cx="3753774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2. Metodología Científica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25225"/>
            <a:ext cx="3936600" cy="26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Estudio cuantitativo y correlacional.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Muestra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100 estudiantes procesados en Python.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Variables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Consumo de Agua (L) y Nivel de Estrés (Escala).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700" y="1030100"/>
            <a:ext cx="4590901" cy="3466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 Hipótesis de Trabajo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25225"/>
            <a:ext cx="4621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A. Hipótesis de Media (Cumplimiento de hidratación):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Hipótesis Nula (H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 consumo promedio de agua de la población estudiantil es de 2,0 litros diarios (𝜇 = 2,0).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Hipótesis Alternativa (H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 consumo promedio de agua de la población estudiantil es diferente a 2,0 litros diarios (𝜇  2,0).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B. Hipótesis de Influencia (Relación Agua-Estrés):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Hipótesis Nula (H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 consumo de agua no tiene una influencia significativa sobre el nivel de estrés de los estudiantes (r = 0).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Hipótesis Alternativa (H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 consumo de agua influye significativamente en el nivel de estrés de los estudiantes (r0 )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600" y="1086250"/>
            <a:ext cx="3905700" cy="2132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4. Eventos Aleatorios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25225"/>
            <a:ext cx="339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Evento A: El estudiante consume más de 2 litros de agua al día.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Evento B: El estudiante reporta un nivel de estrés superior a 7.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375" y="315927"/>
            <a:ext cx="4870064" cy="46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4. Eventos Aleatorios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5225"/>
            <a:ext cx="7600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225" y="3130224"/>
            <a:ext cx="7223000" cy="17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5. Resultados Descriptivos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150" y="1690950"/>
            <a:ext cx="3356950" cy="19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407500" y="1313900"/>
            <a:ext cx="1448700" cy="444300"/>
          </a:xfrm>
          <a:prstGeom prst="wedgeRectCallout">
            <a:avLst>
              <a:gd fmla="val 84112" name="adj1"/>
              <a:gd fmla="val 103106" name="adj2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Muestra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07500" y="1924875"/>
            <a:ext cx="1448700" cy="444300"/>
          </a:xfrm>
          <a:prstGeom prst="wedgeRectCallout">
            <a:avLst>
              <a:gd fmla="val 83335" name="adj1"/>
              <a:gd fmla="val 26255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Promedio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407500" y="2535850"/>
            <a:ext cx="1448700" cy="444300"/>
          </a:xfrm>
          <a:prstGeom prst="wedgeRectCallout">
            <a:avLst>
              <a:gd fmla="val 84112" name="adj1"/>
              <a:gd fmla="val -68293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Desviación Estándar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07500" y="3146825"/>
            <a:ext cx="1448700" cy="444300"/>
          </a:xfrm>
          <a:prstGeom prst="wedgeRectCallout">
            <a:avLst>
              <a:gd fmla="val 84112" name="adj1"/>
              <a:gd fmla="val -147670" name="adj2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Mínimo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407500" y="3757800"/>
            <a:ext cx="1448700" cy="444300"/>
          </a:xfrm>
          <a:prstGeom prst="wedgeRectCallout">
            <a:avLst>
              <a:gd fmla="val 81785" name="adj1"/>
              <a:gd fmla="val -184076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Q1, Q2 y Q3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407500" y="4292050"/>
            <a:ext cx="1448700" cy="444300"/>
          </a:xfrm>
          <a:prstGeom prst="wedgeRectCallout">
            <a:avLst>
              <a:gd fmla="val 86436" name="adj1"/>
              <a:gd fmla="val -220909" name="adj2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Máximo</a:t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5</a:t>
            </a:r>
            <a:r>
              <a:rPr lang="es-419"/>
              <a:t>. Resultados Descriptivos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925" y="1261574"/>
            <a:ext cx="5442925" cy="29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6465900" y="1915550"/>
            <a:ext cx="236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simple observación, se puede distinguir la campana de Gauss con 2 cimas claras y que presenta una forma simétrica.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5. Resultados Descriptivos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00" y="1088975"/>
            <a:ext cx="4376650" cy="34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989" y="4508904"/>
            <a:ext cx="4376650" cy="47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5292725" y="1466300"/>
            <a:ext cx="34446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La </a:t>
            </a:r>
            <a:r>
              <a:rPr lang="es-419" sz="1100">
                <a:solidFill>
                  <a:schemeClr val="dk1"/>
                </a:solidFill>
              </a:rPr>
              <a:t>correlación</a:t>
            </a:r>
            <a:r>
              <a:rPr lang="es-419" sz="1100">
                <a:solidFill>
                  <a:schemeClr val="dk1"/>
                </a:solidFill>
              </a:rPr>
              <a:t> es </a:t>
            </a:r>
            <a:r>
              <a:rPr b="1" lang="es-419" sz="1100">
                <a:solidFill>
                  <a:srgbClr val="0000FF"/>
                </a:solidFill>
              </a:rPr>
              <a:t>- 0,4852</a:t>
            </a:r>
            <a:r>
              <a:rPr lang="es-419" sz="1100">
                <a:solidFill>
                  <a:schemeClr val="dk1"/>
                </a:solidFill>
              </a:rPr>
              <a:t>. Al estar en el rango de </a:t>
            </a:r>
            <a:r>
              <a:rPr b="1" lang="es-419" sz="1100">
                <a:solidFill>
                  <a:schemeClr val="dk1"/>
                </a:solidFill>
              </a:rPr>
              <a:t>Moderada (casi Fuerte)</a:t>
            </a:r>
            <a:r>
              <a:rPr lang="es-419" sz="1100">
                <a:solidFill>
                  <a:schemeClr val="dk1"/>
                </a:solidFill>
              </a:rPr>
              <a:t>, se puede afirmar con seguridad que: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 sz="1100">
                <a:solidFill>
                  <a:schemeClr val="dk1"/>
                </a:solidFill>
              </a:rPr>
              <a:t>No es casualidad</a:t>
            </a:r>
            <a:r>
              <a:rPr lang="es-419" sz="1100">
                <a:solidFill>
                  <a:schemeClr val="dk1"/>
                </a:solidFill>
              </a:rPr>
              <a:t>: Una correlación de casi 0.5 (fuerte) en una muestra de 100 personas es un hallazgo estadísticamente relevante.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 sz="1100">
                <a:solidFill>
                  <a:schemeClr val="dk1"/>
                </a:solidFill>
              </a:rPr>
              <a:t>Dirección Inversa</a:t>
            </a:r>
            <a:r>
              <a:rPr lang="es-419" sz="1100">
                <a:solidFill>
                  <a:schemeClr val="dk1"/>
                </a:solidFill>
              </a:rPr>
              <a:t>: Como el signo es </a:t>
            </a:r>
            <a:r>
              <a:rPr b="1" lang="es-419" sz="1100">
                <a:solidFill>
                  <a:schemeClr val="dk1"/>
                </a:solidFill>
              </a:rPr>
              <a:t>negativo</a:t>
            </a:r>
            <a:r>
              <a:rPr lang="es-419" sz="1100">
                <a:solidFill>
                  <a:schemeClr val="dk1"/>
                </a:solidFill>
              </a:rPr>
              <a:t>, confirmas que a mayor hidratación, menor es el estrés percibido.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6. Teorema del Límite Central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96" y="1281396"/>
            <a:ext cx="3783400" cy="24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1725" y="1442675"/>
            <a:ext cx="4812699" cy="16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665825" y="3697000"/>
            <a:ext cx="732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Análisis</a:t>
            </a:r>
            <a:r>
              <a:rPr lang="es-419" sz="1100">
                <a:solidFill>
                  <a:schemeClr val="dk1"/>
                </a:solidFill>
              </a:rPr>
              <a:t>: Al agrupar por medias, el error estándar disminuyó un </a:t>
            </a:r>
            <a:r>
              <a:rPr b="1" lang="es-419" sz="1100">
                <a:solidFill>
                  <a:schemeClr val="dk1"/>
                </a:solidFill>
              </a:rPr>
              <a:t>84.4%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Validez</a:t>
            </a:r>
            <a:r>
              <a:rPr lang="es-419" sz="1100">
                <a:solidFill>
                  <a:schemeClr val="dk1"/>
                </a:solidFill>
              </a:rPr>
              <a:t>: Los datos siguen una distribución normal, permitiendo inferencias seguras.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Visualización</a:t>
            </a:r>
            <a:r>
              <a:rPr lang="es-419" sz="1100">
                <a:solidFill>
                  <a:schemeClr val="dk1"/>
                </a:solidFill>
              </a:rPr>
              <a:t>: Insertar la Campana de Gauss verde de la Lección 4.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7. Inferencia y P-Valor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75" y="1203377"/>
            <a:ext cx="77438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452425" y="3577625"/>
            <a:ext cx="64686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Prueba de Hipótesis</a:t>
            </a:r>
            <a:r>
              <a:rPr lang="es-419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P-valor: 0.9267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Intervalo (95%): </a:t>
            </a:r>
            <a:r>
              <a:rPr b="1" lang="es-419" sz="1100">
                <a:solidFill>
                  <a:schemeClr val="dk1"/>
                </a:solidFill>
              </a:rPr>
              <a:t>[1.82 L - 2.16 L]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Interpretación</a:t>
            </a:r>
            <a:r>
              <a:rPr lang="es-419" sz="1100">
                <a:solidFill>
                  <a:schemeClr val="dk1"/>
                </a:solidFill>
              </a:rPr>
              <a:t>: El alto P-valor indica que no hay evidencia para rechazar que el consumo es de 2L.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7. Inferencia y P-Valor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75" y="1203377"/>
            <a:ext cx="77438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3574475" y="2813950"/>
            <a:ext cx="628800" cy="314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5692200" y="2813950"/>
            <a:ext cx="628800" cy="314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7809925" y="2813950"/>
            <a:ext cx="628800" cy="314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536075" y="3600075"/>
            <a:ext cx="77439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Tras aplicar tres niveles de confianza distintos, se observa que el valor de referencia de 2.0 L de consumo diario de agua se mantiene consistentemente dentro de todos los intervalos calculados. El elevado</a:t>
            </a:r>
            <a:r>
              <a:rPr b="1" lang="es-419" sz="1100">
                <a:solidFill>
                  <a:schemeClr val="dk1"/>
                </a:solidFill>
              </a:rPr>
              <a:t> P-valor (0,9267)</a:t>
            </a:r>
            <a:r>
              <a:rPr lang="es-419" sz="1100">
                <a:solidFill>
                  <a:schemeClr val="dk1"/>
                </a:solidFill>
              </a:rPr>
              <a:t> </a:t>
            </a:r>
            <a:r>
              <a:rPr b="1" lang="es-419" sz="1100" u="sng">
                <a:solidFill>
                  <a:srgbClr val="FF0000"/>
                </a:solidFill>
              </a:rPr>
              <a:t>indica que la probabilidad de que la diferencia observada sea producto del azar es muy alta</a:t>
            </a:r>
            <a:r>
              <a:rPr lang="es-419" sz="1100">
                <a:solidFill>
                  <a:schemeClr val="dk1"/>
                </a:solidFill>
              </a:rPr>
              <a:t>, por lo cual </a:t>
            </a:r>
            <a:r>
              <a:rPr b="1" lang="es-419" sz="1100" u="sng">
                <a:solidFill>
                  <a:srgbClr val="0000FF"/>
                </a:solidFill>
              </a:rPr>
              <a:t>NO existe evidencia estadística para rechazar la hipótesis nula (H_0)</a:t>
            </a:r>
            <a:r>
              <a:rPr lang="es-419" sz="1100">
                <a:solidFill>
                  <a:schemeClr val="dk1"/>
                </a:solidFill>
              </a:rPr>
              <a:t>. Se concluye con seguridad científica que el promedio de consumo de agua de los estudiantes no difiere significativamente de la recomendación ideal de 2 litros.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8.  Toma de Decisión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Test de Hipótesis y Valor-p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Al compararlo con nuestro nivel de significancia: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Decisión Estadística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 valor-p resultó ser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0.9267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Comparación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Como 0,9267 &gt; 0,05 , la decisión es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No Rechazar la Hipótesis Nula (H_0)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Conclusiones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Both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No rechazar la Hipótesis Nula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 consumo promedio de agua de la población estudiantil es de 2,0 litros diarios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Both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afirma que la media de consumo es igual a 2 litros. Es decir,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lang="es-419" sz="11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sostiene que los estudiantes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SÍ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beben lo suficiente.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Both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Se confirma la relación inversa entre consumo de agua y nivel de estrés.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Both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Considerando los puntos (1), (2) y (3) podemos concluir que los estudiantes cumplen con el consumo de agua de 2 L diarios, por lo tanto no tienen niveles de estrés altos, más bien cumplirían con bajos niveles de estrés.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arenBoth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No existe evidencia suficiente para afirmar que el consumo promedio de agua es distinto a 2.0 litros; los datos son compatibles con la recomendación de salud de la OMS y  Institute of Medicine (IOM) and European Food Safety Authority (EFSA).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Análisis de Errores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Tipo I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Se minimizó este error. No hubo falsa alarma; los datos confirman la meta.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Tipo II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Aumenta la probabilidad de este error. Riesgo bajo de ignorar un problema real.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Se concluye que los estudiantes SI consumen los 2 L de agua diarios, pudiendo existir la probabilidad que el consumo sea menor lo que conllevaría a una falsa percepción de salud entre los estudiantes.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9. Conclusiones y Recomendaciones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25225"/>
            <a:ext cx="2903400" cy="27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Conclusión Final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La población estudiantil mantiene hábitos de hidratación adecuados (2L diarios).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Recomendación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: Mantener campañas informativas, ya que la hidratación previene picos de cortisol y fatiga cognitiva (Liska et al., 2019)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200" y="1356175"/>
            <a:ext cx="4866324" cy="26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